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7" d="100"/>
          <a:sy n="97" d="100"/>
        </p:scale>
        <p:origin x="115" y="6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C3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229600" y="1051560"/>
            <a:ext cx="393192" cy="393192"/>
          </a:xfrm>
          <a:prstGeom prst="rect">
            <a:avLst/>
          </a:prstGeom>
          <a:solidFill>
            <a:srgbClr val="E1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622792" y="1051560"/>
            <a:ext cx="393192" cy="393192"/>
          </a:xfrm>
          <a:prstGeom prst="rect">
            <a:avLst/>
          </a:prstGeom>
          <a:solidFill>
            <a:srgbClr val="374B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015984" y="1051560"/>
            <a:ext cx="393192" cy="393192"/>
          </a:xfrm>
          <a:prstGeom prst="rect">
            <a:avLst/>
          </a:prstGeom>
          <a:solidFill>
            <a:srgbClr val="E1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09176" y="1051560"/>
            <a:ext cx="393192" cy="393192"/>
          </a:xfrm>
          <a:prstGeom prst="rect">
            <a:avLst/>
          </a:prstGeom>
          <a:solidFill>
            <a:srgbClr val="374B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802368" y="1051560"/>
            <a:ext cx="393192" cy="393192"/>
          </a:xfrm>
          <a:prstGeom prst="rect">
            <a:avLst/>
          </a:prstGeom>
          <a:solidFill>
            <a:srgbClr val="E1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195560" y="1051560"/>
            <a:ext cx="393192" cy="393192"/>
          </a:xfrm>
          <a:prstGeom prst="rect">
            <a:avLst/>
          </a:prstGeom>
          <a:solidFill>
            <a:srgbClr val="374B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588752" y="1051560"/>
            <a:ext cx="393192" cy="393192"/>
          </a:xfrm>
          <a:prstGeom prst="rect">
            <a:avLst/>
          </a:prstGeom>
          <a:solidFill>
            <a:srgbClr val="E1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981944" y="1051560"/>
            <a:ext cx="393192" cy="393192"/>
          </a:xfrm>
          <a:prstGeom prst="rect">
            <a:avLst/>
          </a:prstGeom>
          <a:solidFill>
            <a:srgbClr val="374B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0" y="1444751"/>
            <a:ext cx="393192" cy="393192"/>
          </a:xfrm>
          <a:prstGeom prst="rect">
            <a:avLst/>
          </a:prstGeom>
          <a:solidFill>
            <a:srgbClr val="374B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22792" y="1444751"/>
            <a:ext cx="393192" cy="393192"/>
          </a:xfrm>
          <a:prstGeom prst="rect">
            <a:avLst/>
          </a:prstGeom>
          <a:solidFill>
            <a:srgbClr val="E1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015984" y="1444751"/>
            <a:ext cx="393192" cy="393192"/>
          </a:xfrm>
          <a:prstGeom prst="rect">
            <a:avLst/>
          </a:prstGeom>
          <a:solidFill>
            <a:srgbClr val="374B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409176" y="1444751"/>
            <a:ext cx="393192" cy="393192"/>
          </a:xfrm>
          <a:prstGeom prst="rect">
            <a:avLst/>
          </a:prstGeom>
          <a:solidFill>
            <a:srgbClr val="E1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802368" y="1444751"/>
            <a:ext cx="393192" cy="393192"/>
          </a:xfrm>
          <a:prstGeom prst="rect">
            <a:avLst/>
          </a:prstGeom>
          <a:solidFill>
            <a:srgbClr val="374B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195560" y="1444751"/>
            <a:ext cx="393192" cy="393192"/>
          </a:xfrm>
          <a:prstGeom prst="rect">
            <a:avLst/>
          </a:prstGeom>
          <a:solidFill>
            <a:srgbClr val="E1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588752" y="1444751"/>
            <a:ext cx="393192" cy="393192"/>
          </a:xfrm>
          <a:prstGeom prst="rect">
            <a:avLst/>
          </a:prstGeom>
          <a:solidFill>
            <a:srgbClr val="374B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981944" y="1444751"/>
            <a:ext cx="393192" cy="393192"/>
          </a:xfrm>
          <a:prstGeom prst="rect">
            <a:avLst/>
          </a:prstGeom>
          <a:solidFill>
            <a:srgbClr val="E1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0" y="1837943"/>
            <a:ext cx="393192" cy="393192"/>
          </a:xfrm>
          <a:prstGeom prst="rect">
            <a:avLst/>
          </a:prstGeom>
          <a:solidFill>
            <a:srgbClr val="E1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622792" y="1837943"/>
            <a:ext cx="393192" cy="393192"/>
          </a:xfrm>
          <a:prstGeom prst="rect">
            <a:avLst/>
          </a:prstGeom>
          <a:solidFill>
            <a:srgbClr val="374B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015984" y="1837943"/>
            <a:ext cx="393192" cy="393192"/>
          </a:xfrm>
          <a:prstGeom prst="rect">
            <a:avLst/>
          </a:prstGeom>
          <a:solidFill>
            <a:srgbClr val="E1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409176" y="1837943"/>
            <a:ext cx="393192" cy="393192"/>
          </a:xfrm>
          <a:prstGeom prst="rect">
            <a:avLst/>
          </a:prstGeom>
          <a:solidFill>
            <a:srgbClr val="374B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802368" y="1837943"/>
            <a:ext cx="393192" cy="393192"/>
          </a:xfrm>
          <a:prstGeom prst="rect">
            <a:avLst/>
          </a:prstGeom>
          <a:solidFill>
            <a:srgbClr val="E1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195560" y="1837943"/>
            <a:ext cx="393192" cy="393192"/>
          </a:xfrm>
          <a:prstGeom prst="rect">
            <a:avLst/>
          </a:prstGeom>
          <a:solidFill>
            <a:srgbClr val="374B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588752" y="1837943"/>
            <a:ext cx="393192" cy="393192"/>
          </a:xfrm>
          <a:prstGeom prst="rect">
            <a:avLst/>
          </a:prstGeom>
          <a:solidFill>
            <a:srgbClr val="E1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981944" y="1837943"/>
            <a:ext cx="393192" cy="393192"/>
          </a:xfrm>
          <a:prstGeom prst="rect">
            <a:avLst/>
          </a:prstGeom>
          <a:solidFill>
            <a:srgbClr val="374B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229600" y="2231136"/>
            <a:ext cx="393192" cy="393192"/>
          </a:xfrm>
          <a:prstGeom prst="rect">
            <a:avLst/>
          </a:prstGeom>
          <a:solidFill>
            <a:srgbClr val="374B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622792" y="2231136"/>
            <a:ext cx="393192" cy="393192"/>
          </a:xfrm>
          <a:prstGeom prst="rect">
            <a:avLst/>
          </a:prstGeom>
          <a:solidFill>
            <a:srgbClr val="E1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015984" y="2231136"/>
            <a:ext cx="393192" cy="393192"/>
          </a:xfrm>
          <a:prstGeom prst="rect">
            <a:avLst/>
          </a:prstGeom>
          <a:solidFill>
            <a:srgbClr val="374B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409176" y="2231136"/>
            <a:ext cx="393192" cy="393192"/>
          </a:xfrm>
          <a:prstGeom prst="rect">
            <a:avLst/>
          </a:prstGeom>
          <a:solidFill>
            <a:srgbClr val="E1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802368" y="2231136"/>
            <a:ext cx="393192" cy="393192"/>
          </a:xfrm>
          <a:prstGeom prst="rect">
            <a:avLst/>
          </a:prstGeom>
          <a:solidFill>
            <a:srgbClr val="374B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0195560" y="2231136"/>
            <a:ext cx="393192" cy="393192"/>
          </a:xfrm>
          <a:prstGeom prst="rect">
            <a:avLst/>
          </a:prstGeom>
          <a:solidFill>
            <a:srgbClr val="E1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0588752" y="2231136"/>
            <a:ext cx="393192" cy="393192"/>
          </a:xfrm>
          <a:prstGeom prst="rect">
            <a:avLst/>
          </a:prstGeom>
          <a:solidFill>
            <a:srgbClr val="374B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981944" y="2231136"/>
            <a:ext cx="393192" cy="393192"/>
          </a:xfrm>
          <a:prstGeom prst="rect">
            <a:avLst/>
          </a:prstGeom>
          <a:solidFill>
            <a:srgbClr val="E1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229600" y="2624328"/>
            <a:ext cx="393192" cy="393192"/>
          </a:xfrm>
          <a:prstGeom prst="rect">
            <a:avLst/>
          </a:prstGeom>
          <a:solidFill>
            <a:srgbClr val="E1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622792" y="2624328"/>
            <a:ext cx="393192" cy="393192"/>
          </a:xfrm>
          <a:prstGeom prst="rect">
            <a:avLst/>
          </a:prstGeom>
          <a:solidFill>
            <a:srgbClr val="374B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15984" y="2624328"/>
            <a:ext cx="393192" cy="393192"/>
          </a:xfrm>
          <a:prstGeom prst="rect">
            <a:avLst/>
          </a:prstGeom>
          <a:solidFill>
            <a:srgbClr val="E1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409176" y="2624328"/>
            <a:ext cx="393192" cy="393192"/>
          </a:xfrm>
          <a:prstGeom prst="rect">
            <a:avLst/>
          </a:prstGeom>
          <a:solidFill>
            <a:srgbClr val="374B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802368" y="2624328"/>
            <a:ext cx="393192" cy="393192"/>
          </a:xfrm>
          <a:prstGeom prst="rect">
            <a:avLst/>
          </a:prstGeom>
          <a:solidFill>
            <a:srgbClr val="E1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195560" y="2624328"/>
            <a:ext cx="393192" cy="393192"/>
          </a:xfrm>
          <a:prstGeom prst="rect">
            <a:avLst/>
          </a:prstGeom>
          <a:solidFill>
            <a:srgbClr val="374B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0588752" y="2624328"/>
            <a:ext cx="393192" cy="393192"/>
          </a:xfrm>
          <a:prstGeom prst="rect">
            <a:avLst/>
          </a:prstGeom>
          <a:solidFill>
            <a:srgbClr val="E1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0981944" y="2624328"/>
            <a:ext cx="393192" cy="393192"/>
          </a:xfrm>
          <a:prstGeom prst="rect">
            <a:avLst/>
          </a:prstGeom>
          <a:solidFill>
            <a:srgbClr val="374B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229600" y="3017520"/>
            <a:ext cx="393192" cy="393192"/>
          </a:xfrm>
          <a:prstGeom prst="rect">
            <a:avLst/>
          </a:prstGeom>
          <a:solidFill>
            <a:srgbClr val="374B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622792" y="3017520"/>
            <a:ext cx="393192" cy="393192"/>
          </a:xfrm>
          <a:prstGeom prst="rect">
            <a:avLst/>
          </a:prstGeom>
          <a:solidFill>
            <a:srgbClr val="E1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015984" y="3017520"/>
            <a:ext cx="393192" cy="393192"/>
          </a:xfrm>
          <a:prstGeom prst="rect">
            <a:avLst/>
          </a:prstGeom>
          <a:solidFill>
            <a:srgbClr val="374B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9409176" y="3017520"/>
            <a:ext cx="393192" cy="393192"/>
          </a:xfrm>
          <a:prstGeom prst="rect">
            <a:avLst/>
          </a:prstGeom>
          <a:solidFill>
            <a:srgbClr val="E1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802368" y="3017520"/>
            <a:ext cx="393192" cy="393192"/>
          </a:xfrm>
          <a:prstGeom prst="rect">
            <a:avLst/>
          </a:prstGeom>
          <a:solidFill>
            <a:srgbClr val="374B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0195560" y="3017520"/>
            <a:ext cx="393192" cy="393192"/>
          </a:xfrm>
          <a:prstGeom prst="rect">
            <a:avLst/>
          </a:prstGeom>
          <a:solidFill>
            <a:srgbClr val="E1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0588752" y="3017520"/>
            <a:ext cx="393192" cy="393192"/>
          </a:xfrm>
          <a:prstGeom prst="rect">
            <a:avLst/>
          </a:prstGeom>
          <a:solidFill>
            <a:srgbClr val="374B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0981944" y="3017520"/>
            <a:ext cx="393192" cy="393192"/>
          </a:xfrm>
          <a:prstGeom prst="rect">
            <a:avLst/>
          </a:prstGeom>
          <a:solidFill>
            <a:srgbClr val="E1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229600" y="3410712"/>
            <a:ext cx="393192" cy="393192"/>
          </a:xfrm>
          <a:prstGeom prst="rect">
            <a:avLst/>
          </a:prstGeom>
          <a:solidFill>
            <a:srgbClr val="E1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622792" y="3410712"/>
            <a:ext cx="393192" cy="393192"/>
          </a:xfrm>
          <a:prstGeom prst="rect">
            <a:avLst/>
          </a:prstGeom>
          <a:solidFill>
            <a:srgbClr val="374B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9015984" y="3410712"/>
            <a:ext cx="393192" cy="393192"/>
          </a:xfrm>
          <a:prstGeom prst="rect">
            <a:avLst/>
          </a:prstGeom>
          <a:solidFill>
            <a:srgbClr val="E1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9409176" y="3410712"/>
            <a:ext cx="393192" cy="393192"/>
          </a:xfrm>
          <a:prstGeom prst="rect">
            <a:avLst/>
          </a:prstGeom>
          <a:solidFill>
            <a:srgbClr val="374B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9802368" y="3410712"/>
            <a:ext cx="393192" cy="393192"/>
          </a:xfrm>
          <a:prstGeom prst="rect">
            <a:avLst/>
          </a:prstGeom>
          <a:solidFill>
            <a:srgbClr val="E1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0195560" y="3410712"/>
            <a:ext cx="393192" cy="393192"/>
          </a:xfrm>
          <a:prstGeom prst="rect">
            <a:avLst/>
          </a:prstGeom>
          <a:solidFill>
            <a:srgbClr val="374B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0588752" y="3410712"/>
            <a:ext cx="393192" cy="393192"/>
          </a:xfrm>
          <a:prstGeom prst="rect">
            <a:avLst/>
          </a:prstGeom>
          <a:solidFill>
            <a:srgbClr val="E1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0981944" y="3410712"/>
            <a:ext cx="393192" cy="393192"/>
          </a:xfrm>
          <a:prstGeom prst="rect">
            <a:avLst/>
          </a:prstGeom>
          <a:solidFill>
            <a:srgbClr val="374B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8229600" y="3803904"/>
            <a:ext cx="393192" cy="393192"/>
          </a:xfrm>
          <a:prstGeom prst="rect">
            <a:avLst/>
          </a:prstGeom>
          <a:solidFill>
            <a:srgbClr val="374B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8622792" y="3803904"/>
            <a:ext cx="393192" cy="393192"/>
          </a:xfrm>
          <a:prstGeom prst="rect">
            <a:avLst/>
          </a:prstGeom>
          <a:solidFill>
            <a:srgbClr val="E1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9015984" y="3803904"/>
            <a:ext cx="393192" cy="393192"/>
          </a:xfrm>
          <a:prstGeom prst="rect">
            <a:avLst/>
          </a:prstGeom>
          <a:solidFill>
            <a:srgbClr val="374B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9409176" y="3803904"/>
            <a:ext cx="393192" cy="393192"/>
          </a:xfrm>
          <a:prstGeom prst="rect">
            <a:avLst/>
          </a:prstGeom>
          <a:solidFill>
            <a:srgbClr val="E1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9802368" y="3803904"/>
            <a:ext cx="393192" cy="393192"/>
          </a:xfrm>
          <a:prstGeom prst="rect">
            <a:avLst/>
          </a:prstGeom>
          <a:solidFill>
            <a:srgbClr val="374B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10195560" y="3803904"/>
            <a:ext cx="393192" cy="393192"/>
          </a:xfrm>
          <a:prstGeom prst="rect">
            <a:avLst/>
          </a:prstGeom>
          <a:solidFill>
            <a:srgbClr val="E1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10588752" y="3803904"/>
            <a:ext cx="393192" cy="393192"/>
          </a:xfrm>
          <a:prstGeom prst="rect">
            <a:avLst/>
          </a:prstGeom>
          <a:solidFill>
            <a:srgbClr val="374B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10981944" y="3803904"/>
            <a:ext cx="393192" cy="393192"/>
          </a:xfrm>
          <a:prstGeom prst="rect">
            <a:avLst/>
          </a:prstGeom>
          <a:solidFill>
            <a:srgbClr val="E1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622792" y="1033271"/>
            <a:ext cx="393192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101C34"/>
                </a:solidFill>
              </a:defRPr>
            </a:pPr>
            <a:r>
              <a:t>♛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409176" y="1426463"/>
            <a:ext cx="393192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101C34"/>
                </a:solidFill>
              </a:defRPr>
            </a:pPr>
            <a:r>
              <a:t>♛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229600" y="1819655"/>
            <a:ext cx="393192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101C34"/>
                </a:solidFill>
              </a:defRPr>
            </a:pPr>
            <a:r>
              <a:t>♛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015984" y="2212848"/>
            <a:ext cx="393192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101C34"/>
                </a:solidFill>
              </a:defRPr>
            </a:pPr>
            <a:r>
              <a:t>♛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77240" y="685800"/>
            <a:ext cx="6766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A0BEEB"/>
                </a:solidFill>
              </a:defRPr>
            </a:pPr>
            <a:r>
              <a:t>ALGORITHMS • BACKTRACKING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77240" y="1188720"/>
            <a:ext cx="6766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700" b="1">
                <a:solidFill>
                  <a:srgbClr val="FFFFFF"/>
                </a:solidFill>
              </a:defRPr>
            </a:pPr>
            <a:r>
              <a:t>N-QUEENS</a:t>
            </a:r>
            <a:br/>
            <a:r>
              <a:t>VISUALIZER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" y="2423160"/>
            <a:ext cx="5943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C3D7F5"/>
                </a:solidFill>
              </a:defRPr>
            </a:pPr>
            <a:r>
              <a:t>Making recursive decisions visible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22960" y="3337560"/>
            <a:ext cx="6309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</a:defRPr>
            </a:pPr>
            <a:r>
              <a:t>Mallareddy University Vishwavidyapeeth, Maisammaguda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22960" y="3840480"/>
            <a:ext cx="6309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DCE6F5"/>
                </a:solidFill>
              </a:defRPr>
            </a:pPr>
            <a:r>
              <a:t>Presented by:</a:t>
            </a:r>
            <a:br/>
            <a:r>
              <a:t>B. Vaibhav  •  25MVCSMR0201</a:t>
            </a:r>
            <a:br/>
            <a:r>
              <a:t>P. Mani Charan  •  25MVCSMR0256</a:t>
            </a:r>
            <a:br/>
            <a:r>
              <a:t>R. Harsha Vardhan  •  25MVCSMR0257</a:t>
            </a:r>
            <a:br/>
            <a:r>
              <a:t>R. Rishindhra  •  25MVCSMR0260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B65BE"/>
                </a:solidFill>
              </a:defRPr>
            </a:pPr>
            <a: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01C34"/>
                </a:solidFill>
              </a:defRPr>
            </a:pPr>
            <a:r>
              <a:t>Introduction &amp; Problem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115568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082"/>
                </a:solidFill>
              </a:defRPr>
            </a:pPr>
            <a:r>
              <a:t>What is the N-Queens problem?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444752"/>
            <a:ext cx="10972800" cy="18288"/>
          </a:xfrm>
          <a:prstGeom prst="rect">
            <a:avLst/>
          </a:prstGeom>
          <a:solidFill>
            <a:srgbClr val="DAE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737360"/>
            <a:ext cx="61264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700">
                <a:solidFill>
                  <a:srgbClr val="232A37"/>
                </a:solidFill>
              </a:defRPr>
            </a:pPr>
            <a:r>
              <a:t>• Place N queens on an N × N chessboard.</a:t>
            </a:r>
          </a:p>
          <a:p>
            <a:pPr>
              <a:spcAft>
                <a:spcPts val="1100"/>
              </a:spcAft>
              <a:defRPr sz="1700">
                <a:solidFill>
                  <a:srgbClr val="232A37"/>
                </a:solidFill>
              </a:defRPr>
            </a:pPr>
            <a:r>
              <a:t>• No two queens may attack each other.</a:t>
            </a:r>
          </a:p>
          <a:p>
            <a:pPr>
              <a:spcAft>
                <a:spcPts val="1100"/>
              </a:spcAft>
              <a:defRPr sz="1700">
                <a:solidFill>
                  <a:srgbClr val="232A37"/>
                </a:solidFill>
              </a:defRPr>
            </a:pPr>
            <a:r>
              <a:t>• A queen attacks across rows, columns and diagonals.</a:t>
            </a:r>
          </a:p>
          <a:p>
            <a:pPr>
              <a:spcAft>
                <a:spcPts val="1100"/>
              </a:spcAft>
              <a:defRPr sz="1700">
                <a:solidFill>
                  <a:srgbClr val="232A37"/>
                </a:solidFill>
              </a:defRPr>
            </a:pPr>
            <a:r>
              <a:t>• The visualizer exposes placements, conflicts and backtracking decisions.</a:t>
            </a:r>
          </a:p>
          <a:p>
            <a:pPr>
              <a:spcAft>
                <a:spcPts val="1100"/>
              </a:spcAft>
              <a:defRPr sz="1700">
                <a:solidFill>
                  <a:srgbClr val="232A37"/>
                </a:solidFill>
              </a:defRPr>
            </a:pPr>
            <a:r>
              <a:t>• The goal is to understand the search—not just receive the final answer.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7635240" y="1783080"/>
            <a:ext cx="868680" cy="868680"/>
          </a:xfrm>
          <a:prstGeom prst="rect">
            <a:avLst/>
          </a:prstGeom>
          <a:solidFill>
            <a:srgbClr val="EBEFF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503919" y="1783080"/>
            <a:ext cx="868680" cy="868680"/>
          </a:xfrm>
          <a:prstGeom prst="rect">
            <a:avLst/>
          </a:prstGeom>
          <a:solidFill>
            <a:srgbClr val="40526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372600" y="1783080"/>
            <a:ext cx="868680" cy="868680"/>
          </a:xfrm>
          <a:prstGeom prst="rect">
            <a:avLst/>
          </a:prstGeom>
          <a:solidFill>
            <a:srgbClr val="EBEFF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241280" y="1783080"/>
            <a:ext cx="868680" cy="868680"/>
          </a:xfrm>
          <a:prstGeom prst="rect">
            <a:avLst/>
          </a:prstGeom>
          <a:solidFill>
            <a:srgbClr val="40526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35240" y="2651760"/>
            <a:ext cx="868680" cy="868680"/>
          </a:xfrm>
          <a:prstGeom prst="rect">
            <a:avLst/>
          </a:prstGeom>
          <a:solidFill>
            <a:srgbClr val="40526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503919" y="2651760"/>
            <a:ext cx="868680" cy="868680"/>
          </a:xfrm>
          <a:prstGeom prst="rect">
            <a:avLst/>
          </a:prstGeom>
          <a:solidFill>
            <a:srgbClr val="EBEFF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372600" y="2651760"/>
            <a:ext cx="868680" cy="868680"/>
          </a:xfrm>
          <a:prstGeom prst="rect">
            <a:avLst/>
          </a:prstGeom>
          <a:solidFill>
            <a:srgbClr val="40526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241280" y="2651760"/>
            <a:ext cx="868680" cy="868680"/>
          </a:xfrm>
          <a:prstGeom prst="rect">
            <a:avLst/>
          </a:prstGeom>
          <a:solidFill>
            <a:srgbClr val="EBEFF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635240" y="3520439"/>
            <a:ext cx="868680" cy="868680"/>
          </a:xfrm>
          <a:prstGeom prst="rect">
            <a:avLst/>
          </a:prstGeom>
          <a:solidFill>
            <a:srgbClr val="EBEFF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503919" y="3520439"/>
            <a:ext cx="868680" cy="868680"/>
          </a:xfrm>
          <a:prstGeom prst="rect">
            <a:avLst/>
          </a:prstGeom>
          <a:solidFill>
            <a:srgbClr val="40526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372600" y="3520439"/>
            <a:ext cx="868680" cy="868680"/>
          </a:xfrm>
          <a:prstGeom prst="rect">
            <a:avLst/>
          </a:prstGeom>
          <a:solidFill>
            <a:srgbClr val="EBEFF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241280" y="3520439"/>
            <a:ext cx="868680" cy="868680"/>
          </a:xfrm>
          <a:prstGeom prst="rect">
            <a:avLst/>
          </a:prstGeom>
          <a:solidFill>
            <a:srgbClr val="40526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635240" y="4389120"/>
            <a:ext cx="868680" cy="868680"/>
          </a:xfrm>
          <a:prstGeom prst="rect">
            <a:avLst/>
          </a:prstGeom>
          <a:solidFill>
            <a:srgbClr val="40526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503919" y="4389120"/>
            <a:ext cx="868680" cy="868680"/>
          </a:xfrm>
          <a:prstGeom prst="rect">
            <a:avLst/>
          </a:prstGeom>
          <a:solidFill>
            <a:srgbClr val="EBEFF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372600" y="4389120"/>
            <a:ext cx="868680" cy="868680"/>
          </a:xfrm>
          <a:prstGeom prst="rect">
            <a:avLst/>
          </a:prstGeom>
          <a:solidFill>
            <a:srgbClr val="40526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241280" y="4389120"/>
            <a:ext cx="868680" cy="868680"/>
          </a:xfrm>
          <a:prstGeom prst="rect">
            <a:avLst/>
          </a:prstGeom>
          <a:solidFill>
            <a:srgbClr val="EBEFF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19" y="1764792"/>
            <a:ext cx="868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01C34"/>
                </a:solidFill>
              </a:defRPr>
            </a:pPr>
            <a:r>
              <a:t>♛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41280" y="2633472"/>
            <a:ext cx="868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01C34"/>
                </a:solidFill>
              </a:defRPr>
            </a:pPr>
            <a:r>
              <a:t>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3502151"/>
            <a:ext cx="868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01C34"/>
                </a:solidFill>
              </a:defRPr>
            </a:pPr>
            <a:r>
              <a:t>♛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72600" y="4370832"/>
            <a:ext cx="868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01C34"/>
                </a:solidFill>
              </a:defRPr>
            </a:pPr>
            <a:r>
              <a:t>♛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35240" y="553212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2B65BE"/>
                </a:solidFill>
              </a:defRPr>
            </a:pPr>
            <a:r>
              <a:t>VALID 4 × 4 CONFIGURATION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B65BE"/>
                </a:solidFill>
              </a:defRPr>
            </a:pPr>
            <a: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01C34"/>
                </a:solidFill>
              </a:defRPr>
            </a:pPr>
            <a:r>
              <a:t>Objectives &amp; Core Algorithm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115568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082"/>
                </a:solidFill>
              </a:defRPr>
            </a:pPr>
            <a:r>
              <a:t>Backtracking-based decision process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444752"/>
            <a:ext cx="10972800" cy="18288"/>
          </a:xfrm>
          <a:prstGeom prst="rect">
            <a:avLst/>
          </a:prstGeom>
          <a:solidFill>
            <a:srgbClr val="DAE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49377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600">
                <a:solidFill>
                  <a:srgbClr val="232A37"/>
                </a:solidFill>
              </a:defRPr>
            </a:pPr>
            <a:r>
              <a:t>• Apply backtracking correctly.</a:t>
            </a:r>
          </a:p>
          <a:p>
            <a:pPr>
              <a:spcAft>
                <a:spcPts val="1100"/>
              </a:spcAft>
              <a:defRPr sz="1600">
                <a:solidFill>
                  <a:srgbClr val="232A37"/>
                </a:solidFill>
              </a:defRPr>
            </a:pPr>
            <a:r>
              <a:t>• Check constraints after every queen placement.</a:t>
            </a:r>
          </a:p>
          <a:p>
            <a:pPr>
              <a:spcAft>
                <a:spcPts val="1100"/>
              </a:spcAft>
              <a:defRPr sz="1600">
                <a:solidFill>
                  <a:srgbClr val="232A37"/>
                </a:solidFill>
              </a:defRPr>
            </a:pPr>
            <a:r>
              <a:t>• Undo a choice when it leads to failure.</a:t>
            </a:r>
          </a:p>
          <a:p>
            <a:pPr>
              <a:spcAft>
                <a:spcPts val="1100"/>
              </a:spcAft>
              <a:defRPr sz="1600">
                <a:solidFill>
                  <a:srgbClr val="232A37"/>
                </a:solidFill>
              </a:defRPr>
            </a:pPr>
            <a:r>
              <a:t>• Display valid solutions and search statistics.</a:t>
            </a:r>
          </a:p>
          <a:p>
            <a:pPr>
              <a:spcAft>
                <a:spcPts val="1100"/>
              </a:spcAft>
              <a:defRPr sz="1600">
                <a:solidFill>
                  <a:srgbClr val="232A37"/>
                </a:solidFill>
              </a:defRPr>
            </a:pPr>
            <a:r>
              <a:t>• Make the algorithm understandable through animation.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89320" y="1828800"/>
            <a:ext cx="1417320" cy="749808"/>
          </a:xfrm>
          <a:prstGeom prst="roundRect">
            <a:avLst/>
          </a:prstGeom>
          <a:solidFill>
            <a:srgbClr val="F4F7FB"/>
          </a:solidFill>
          <a:ln>
            <a:solidFill>
              <a:srgbClr val="2B65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35040" y="1901952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01C34"/>
                </a:solidFill>
              </a:defRPr>
            </a:pPr>
            <a:r>
              <a:t>SELECT</a:t>
            </a:r>
            <a:br/>
            <a:r>
              <a:t>ROW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479792" y="2029968"/>
            <a:ext cx="411480" cy="347472"/>
          </a:xfrm>
          <a:prstGeom prst="rightArrow">
            <a:avLst/>
          </a:prstGeom>
          <a:solidFill>
            <a:srgbClr val="2B65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973568" y="1828800"/>
            <a:ext cx="1417320" cy="749808"/>
          </a:xfrm>
          <a:prstGeom prst="roundRect">
            <a:avLst/>
          </a:prstGeom>
          <a:solidFill>
            <a:srgbClr val="F4F7FB"/>
          </a:solidFill>
          <a:ln>
            <a:solidFill>
              <a:srgbClr val="2B65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19288" y="1901952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01C34"/>
                </a:solidFill>
              </a:defRPr>
            </a:pPr>
            <a:r>
              <a:t>TRY</a:t>
            </a:r>
            <a:br/>
            <a:r>
              <a:t>COLUMN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9464040" y="2029968"/>
            <a:ext cx="411480" cy="347472"/>
          </a:xfrm>
          <a:prstGeom prst="rightArrow">
            <a:avLst/>
          </a:prstGeom>
          <a:solidFill>
            <a:srgbClr val="2B65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948672" y="1828800"/>
            <a:ext cx="1508760" cy="749808"/>
          </a:xfrm>
          <a:prstGeom prst="roundRect">
            <a:avLst/>
          </a:prstGeom>
          <a:solidFill>
            <a:srgbClr val="F4F7FB"/>
          </a:solidFill>
          <a:ln>
            <a:solidFill>
              <a:srgbClr val="2B65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94392" y="1901952"/>
            <a:ext cx="1417319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01C34"/>
                </a:solidFill>
              </a:defRPr>
            </a:pPr>
            <a:r>
              <a:t>CHECK</a:t>
            </a:r>
            <a:br/>
            <a:r>
              <a:t>SAFETY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37960" y="3246120"/>
            <a:ext cx="1645920" cy="749808"/>
          </a:xfrm>
          <a:prstGeom prst="roundRect">
            <a:avLst/>
          </a:prstGeom>
          <a:solidFill>
            <a:srgbClr val="F4F7FB"/>
          </a:solidFill>
          <a:ln>
            <a:solidFill>
              <a:srgbClr val="2B65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0" y="3319272"/>
            <a:ext cx="1554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01C34"/>
                </a:solidFill>
              </a:defRPr>
            </a:pPr>
            <a:r>
              <a:t>SAFE → PLACE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732520" y="3246120"/>
            <a:ext cx="1645920" cy="749808"/>
          </a:xfrm>
          <a:prstGeom prst="roundRect">
            <a:avLst/>
          </a:prstGeom>
          <a:solidFill>
            <a:srgbClr val="F4F7FB"/>
          </a:solidFill>
          <a:ln>
            <a:solidFill>
              <a:srgbClr val="2B65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78240" y="3319272"/>
            <a:ext cx="1554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01C34"/>
                </a:solidFill>
              </a:defRPr>
            </a:pPr>
            <a:r>
              <a:t>CONFLICT → UNDO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635240" y="4572000"/>
            <a:ext cx="1920240" cy="749808"/>
          </a:xfrm>
          <a:prstGeom prst="roundRect">
            <a:avLst/>
          </a:prstGeom>
          <a:solidFill>
            <a:srgbClr val="F4F7FB"/>
          </a:solidFill>
          <a:ln>
            <a:solidFill>
              <a:srgbClr val="2B65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60" y="4645152"/>
            <a:ext cx="1828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01C34"/>
                </a:solidFill>
              </a:defRPr>
            </a:pPr>
            <a:r>
              <a:t>NEXT ROW / SOLUTION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35040" y="56692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2B65BE"/>
                </a:solidFill>
              </a:defRPr>
            </a:pPr>
            <a:r>
              <a:t>PLACE  →  CHECK  →  CONTINUE  →  BACKTRACK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B65BE"/>
                </a:solidFill>
              </a:defRPr>
            </a:pPr>
            <a: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01C34"/>
                </a:solidFill>
              </a:defRPr>
            </a:pPr>
            <a:r>
              <a:t>N-Queens Example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115568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082"/>
                </a:solidFill>
              </a:defRPr>
            </a:pPr>
            <a:r>
              <a:t>A valid 4 × 4 arrangement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444752"/>
            <a:ext cx="10972800" cy="18288"/>
          </a:xfrm>
          <a:prstGeom prst="rect">
            <a:avLst/>
          </a:prstGeom>
          <a:solidFill>
            <a:srgbClr val="DAE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737360"/>
            <a:ext cx="1051560" cy="1051560"/>
          </a:xfrm>
          <a:prstGeom prst="rect">
            <a:avLst/>
          </a:prstGeom>
          <a:solidFill>
            <a:srgbClr val="EBEFF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965960" y="1737360"/>
            <a:ext cx="1051560" cy="1051560"/>
          </a:xfrm>
          <a:prstGeom prst="rect">
            <a:avLst/>
          </a:prstGeom>
          <a:solidFill>
            <a:srgbClr val="40526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017520" y="1737360"/>
            <a:ext cx="1051560" cy="1051560"/>
          </a:xfrm>
          <a:prstGeom prst="rect">
            <a:avLst/>
          </a:prstGeom>
          <a:solidFill>
            <a:srgbClr val="EBEFF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069079" y="1737360"/>
            <a:ext cx="1051560" cy="1051560"/>
          </a:xfrm>
          <a:prstGeom prst="rect">
            <a:avLst/>
          </a:prstGeom>
          <a:solidFill>
            <a:srgbClr val="40526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14400" y="2788920"/>
            <a:ext cx="1051560" cy="1051560"/>
          </a:xfrm>
          <a:prstGeom prst="rect">
            <a:avLst/>
          </a:prstGeom>
          <a:solidFill>
            <a:srgbClr val="40526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965960" y="2788920"/>
            <a:ext cx="1051560" cy="1051560"/>
          </a:xfrm>
          <a:prstGeom prst="rect">
            <a:avLst/>
          </a:prstGeom>
          <a:solidFill>
            <a:srgbClr val="EBEFF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017520" y="2788920"/>
            <a:ext cx="1051560" cy="1051560"/>
          </a:xfrm>
          <a:prstGeom prst="rect">
            <a:avLst/>
          </a:prstGeom>
          <a:solidFill>
            <a:srgbClr val="40526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069079" y="2788920"/>
            <a:ext cx="1051560" cy="1051560"/>
          </a:xfrm>
          <a:prstGeom prst="rect">
            <a:avLst/>
          </a:prstGeom>
          <a:solidFill>
            <a:srgbClr val="EBEFF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3840479"/>
            <a:ext cx="1051560" cy="1051560"/>
          </a:xfrm>
          <a:prstGeom prst="rect">
            <a:avLst/>
          </a:prstGeom>
          <a:solidFill>
            <a:srgbClr val="EBEFF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965960" y="3840479"/>
            <a:ext cx="1051560" cy="1051560"/>
          </a:xfrm>
          <a:prstGeom prst="rect">
            <a:avLst/>
          </a:prstGeom>
          <a:solidFill>
            <a:srgbClr val="40526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017520" y="3840479"/>
            <a:ext cx="1051560" cy="1051560"/>
          </a:xfrm>
          <a:prstGeom prst="rect">
            <a:avLst/>
          </a:prstGeom>
          <a:solidFill>
            <a:srgbClr val="EBEFF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069079" y="3840479"/>
            <a:ext cx="1051560" cy="1051560"/>
          </a:xfrm>
          <a:prstGeom prst="rect">
            <a:avLst/>
          </a:prstGeom>
          <a:solidFill>
            <a:srgbClr val="40526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14400" y="4892040"/>
            <a:ext cx="1051560" cy="1051560"/>
          </a:xfrm>
          <a:prstGeom prst="rect">
            <a:avLst/>
          </a:prstGeom>
          <a:solidFill>
            <a:srgbClr val="40526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965960" y="4892040"/>
            <a:ext cx="1051560" cy="1051560"/>
          </a:xfrm>
          <a:prstGeom prst="rect">
            <a:avLst/>
          </a:prstGeom>
          <a:solidFill>
            <a:srgbClr val="EBEFF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017520" y="4892040"/>
            <a:ext cx="1051560" cy="1051560"/>
          </a:xfrm>
          <a:prstGeom prst="rect">
            <a:avLst/>
          </a:prstGeom>
          <a:solidFill>
            <a:srgbClr val="40526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069079" y="4892040"/>
            <a:ext cx="1051560" cy="1051560"/>
          </a:xfrm>
          <a:prstGeom prst="rect">
            <a:avLst/>
          </a:prstGeom>
          <a:solidFill>
            <a:srgbClr val="EBEFF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965960" y="1719072"/>
            <a:ext cx="10515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700" b="1">
                <a:solidFill>
                  <a:srgbClr val="101C34"/>
                </a:solidFill>
              </a:defRPr>
            </a:pPr>
            <a:r>
              <a:t>♛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69079" y="2770632"/>
            <a:ext cx="10515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700" b="1">
                <a:solidFill>
                  <a:srgbClr val="101C34"/>
                </a:solidFill>
              </a:defRPr>
            </a:pPr>
            <a:r>
              <a:t>♛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3822191"/>
            <a:ext cx="10515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700" b="1">
                <a:solidFill>
                  <a:srgbClr val="101C34"/>
                </a:solidFill>
              </a:defRPr>
            </a:pPr>
            <a:r>
              <a:t>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17520" y="4873752"/>
            <a:ext cx="10515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700" b="1">
                <a:solidFill>
                  <a:srgbClr val="101C34"/>
                </a:solidFill>
              </a:defRPr>
            </a:pPr>
            <a:r>
              <a:t>♛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0" y="1783080"/>
            <a:ext cx="2560320" cy="1143000"/>
          </a:xfrm>
          <a:prstGeom prst="roundRect">
            <a:avLst/>
          </a:prstGeom>
          <a:solidFill>
            <a:srgbClr val="F4F7FB"/>
          </a:solidFill>
          <a:ln>
            <a:solidFill>
              <a:srgbClr val="DA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833872" y="1901952"/>
            <a:ext cx="223113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47082"/>
                </a:solidFill>
              </a:defRPr>
            </a:pPr>
            <a:r>
              <a:t>REPRESENTATION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33872" y="2258568"/>
            <a:ext cx="223113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>
                <a:solidFill>
                  <a:srgbClr val="2B65BE"/>
                </a:solidFill>
              </a:defRPr>
            </a:pPr>
            <a:r>
              <a:t>[1, 3, 0, 2]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549640" y="1783080"/>
            <a:ext cx="2560320" cy="1143000"/>
          </a:xfrm>
          <a:prstGeom prst="roundRect">
            <a:avLst/>
          </a:prstGeom>
          <a:solidFill>
            <a:srgbClr val="F4F7FB"/>
          </a:solidFill>
          <a:ln>
            <a:solidFill>
              <a:srgbClr val="DA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714232" y="1901952"/>
            <a:ext cx="223113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47082"/>
                </a:solidFill>
              </a:defRPr>
            </a:pPr>
            <a:r>
              <a:t>SOLUTIONS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14232" y="2258568"/>
            <a:ext cx="223113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>
                <a:solidFill>
                  <a:srgbClr val="319B66"/>
                </a:solidFill>
              </a:defRPr>
            </a:pPr>
            <a:r>
              <a:t>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3337560"/>
            <a:ext cx="52120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600">
                <a:solidFill>
                  <a:srgbClr val="232A37"/>
                </a:solidFill>
              </a:defRPr>
            </a:pPr>
            <a:r>
              <a:t>• One queen is placed in every row.</a:t>
            </a:r>
          </a:p>
          <a:p>
            <a:pPr>
              <a:spcAft>
                <a:spcPts val="1100"/>
              </a:spcAft>
              <a:defRPr sz="1600">
                <a:solidFill>
                  <a:srgbClr val="232A37"/>
                </a:solidFill>
              </a:defRPr>
            </a:pPr>
            <a:r>
              <a:t>• No two queens share a column.</a:t>
            </a:r>
          </a:p>
          <a:p>
            <a:pPr>
              <a:spcAft>
                <a:spcPts val="1100"/>
              </a:spcAft>
              <a:defRPr sz="1600">
                <a:solidFill>
                  <a:srgbClr val="232A37"/>
                </a:solidFill>
              </a:defRPr>
            </a:pPr>
            <a:r>
              <a:t>• No two queens share a diagonal.</a:t>
            </a:r>
          </a:p>
          <a:p>
            <a:pPr>
              <a:spcAft>
                <a:spcPts val="1100"/>
              </a:spcAft>
              <a:defRPr sz="1600">
                <a:solidFill>
                  <a:srgbClr val="232A37"/>
                </a:solidFill>
              </a:defRPr>
            </a:pPr>
            <a:r>
              <a:t>• The arrangement is reached through recursive search.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B65BE"/>
                </a:solidFill>
              </a:defRPr>
            </a:pPr>
            <a: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01C34"/>
                </a:solidFill>
              </a:defRPr>
            </a:pPr>
            <a:r>
              <a:t>System Architecture &amp; Technologies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115568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082"/>
                </a:solidFill>
              </a:defRPr>
            </a:pPr>
            <a:r>
              <a:t>How the prototype is organized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444752"/>
            <a:ext cx="10972800" cy="18288"/>
          </a:xfrm>
          <a:prstGeom prst="rect">
            <a:avLst/>
          </a:prstGeom>
          <a:solidFill>
            <a:srgbClr val="DAE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828800"/>
            <a:ext cx="1645920" cy="749808"/>
          </a:xfrm>
          <a:prstGeom prst="roundRect">
            <a:avLst/>
          </a:prstGeom>
          <a:solidFill>
            <a:srgbClr val="F4F7FB"/>
          </a:solidFill>
          <a:ln>
            <a:solidFill>
              <a:srgbClr val="2B65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01952"/>
            <a:ext cx="1554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01C34"/>
                </a:solidFill>
              </a:defRPr>
            </a:pPr>
            <a:r>
              <a:t>USER</a:t>
            </a:r>
            <a:br/>
            <a:r>
              <a:t>INPUT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80360" y="1828800"/>
            <a:ext cx="1645920" cy="749808"/>
          </a:xfrm>
          <a:prstGeom prst="roundRect">
            <a:avLst/>
          </a:prstGeom>
          <a:solidFill>
            <a:srgbClr val="F4F7FB"/>
          </a:solidFill>
          <a:ln>
            <a:solidFill>
              <a:srgbClr val="2B65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26079" y="1901952"/>
            <a:ext cx="1554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01C34"/>
                </a:solidFill>
              </a:defRPr>
            </a:pPr>
            <a:r>
              <a:t>BACKTRACKING</a:t>
            </a:r>
            <a:br/>
            <a:r>
              <a:t>ENGINE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257800" y="1828800"/>
            <a:ext cx="1645920" cy="749808"/>
          </a:xfrm>
          <a:prstGeom prst="roundRect">
            <a:avLst/>
          </a:prstGeom>
          <a:solidFill>
            <a:srgbClr val="F4F7FB"/>
          </a:solidFill>
          <a:ln>
            <a:solidFill>
              <a:srgbClr val="2B65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0" y="1901952"/>
            <a:ext cx="1554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01C34"/>
                </a:solidFill>
              </a:defRPr>
            </a:pPr>
            <a:r>
              <a:t>CONFLICT</a:t>
            </a:r>
            <a:br/>
            <a:r>
              <a:t>CHECKER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35240" y="1828800"/>
            <a:ext cx="1645920" cy="749808"/>
          </a:xfrm>
          <a:prstGeom prst="roundRect">
            <a:avLst/>
          </a:prstGeom>
          <a:solidFill>
            <a:srgbClr val="F4F7FB"/>
          </a:solidFill>
          <a:ln>
            <a:solidFill>
              <a:srgbClr val="2B65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0" y="1901952"/>
            <a:ext cx="1554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01C34"/>
                </a:solidFill>
              </a:defRPr>
            </a:pPr>
            <a:r>
              <a:t>VISUALIZER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012680" y="1828800"/>
            <a:ext cx="1645920" cy="749808"/>
          </a:xfrm>
          <a:prstGeom prst="roundRect">
            <a:avLst/>
          </a:prstGeom>
          <a:solidFill>
            <a:srgbClr val="F4F7FB"/>
          </a:solidFill>
          <a:ln>
            <a:solidFill>
              <a:srgbClr val="2B65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0" y="1901952"/>
            <a:ext cx="1554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01C34"/>
                </a:solidFill>
              </a:defRPr>
            </a:pPr>
            <a:r>
              <a:t>STATISTICS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2377440" y="2029968"/>
            <a:ext cx="411480" cy="347472"/>
          </a:xfrm>
          <a:prstGeom prst="rightArrow">
            <a:avLst/>
          </a:prstGeom>
          <a:solidFill>
            <a:srgbClr val="2B65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ight Arrow 16"/>
          <p:cNvSpPr/>
          <p:nvPr/>
        </p:nvSpPr>
        <p:spPr>
          <a:xfrm>
            <a:off x="4754880" y="2029968"/>
            <a:ext cx="411480" cy="347472"/>
          </a:xfrm>
          <a:prstGeom prst="rightArrow">
            <a:avLst/>
          </a:prstGeom>
          <a:solidFill>
            <a:srgbClr val="2B65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ight Arrow 17"/>
          <p:cNvSpPr/>
          <p:nvPr/>
        </p:nvSpPr>
        <p:spPr>
          <a:xfrm>
            <a:off x="7132320" y="2029968"/>
            <a:ext cx="411480" cy="347472"/>
          </a:xfrm>
          <a:prstGeom prst="rightArrow">
            <a:avLst/>
          </a:prstGeom>
          <a:solidFill>
            <a:srgbClr val="2B65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ight Arrow 18"/>
          <p:cNvSpPr/>
          <p:nvPr/>
        </p:nvSpPr>
        <p:spPr>
          <a:xfrm>
            <a:off x="9509760" y="2029968"/>
            <a:ext cx="411480" cy="347472"/>
          </a:xfrm>
          <a:prstGeom prst="rightArrow">
            <a:avLst/>
          </a:prstGeom>
          <a:solidFill>
            <a:srgbClr val="2B65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14400" y="3886200"/>
            <a:ext cx="2926080" cy="1188720"/>
          </a:xfrm>
          <a:prstGeom prst="roundRect">
            <a:avLst/>
          </a:prstGeom>
          <a:solidFill>
            <a:srgbClr val="F4F7FB"/>
          </a:solidFill>
          <a:ln>
            <a:solidFill>
              <a:srgbClr val="DA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78992" y="4005072"/>
            <a:ext cx="259689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47082"/>
                </a:solidFill>
              </a:defRPr>
            </a:pPr>
            <a:r>
              <a:t>LANGUAGE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8992" y="4361688"/>
            <a:ext cx="259689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>
                <a:solidFill>
                  <a:srgbClr val="2B65BE"/>
                </a:solidFill>
              </a:defRPr>
            </a:pPr>
            <a:r>
              <a:t>Python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26280" y="3886200"/>
            <a:ext cx="2926080" cy="1188720"/>
          </a:xfrm>
          <a:prstGeom prst="roundRect">
            <a:avLst/>
          </a:prstGeom>
          <a:solidFill>
            <a:srgbClr val="F4F7FB"/>
          </a:solidFill>
          <a:ln>
            <a:solidFill>
              <a:srgbClr val="DA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90872" y="4005072"/>
            <a:ext cx="259689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47082"/>
                </a:solidFill>
              </a:defRPr>
            </a:pPr>
            <a:r>
              <a:t>INTERFACE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90872" y="4361688"/>
            <a:ext cx="259689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>
                <a:solidFill>
                  <a:srgbClr val="2DAABE"/>
                </a:solidFill>
              </a:defRPr>
            </a:pPr>
            <a:r>
              <a:t>Streamlit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38160" y="3886200"/>
            <a:ext cx="2926080" cy="1188720"/>
          </a:xfrm>
          <a:prstGeom prst="roundRect">
            <a:avLst/>
          </a:prstGeom>
          <a:solidFill>
            <a:srgbClr val="F4F7FB"/>
          </a:solidFill>
          <a:ln>
            <a:solidFill>
              <a:srgbClr val="DA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2752" y="4005072"/>
            <a:ext cx="259689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47082"/>
                </a:solidFill>
              </a:defRPr>
            </a:pPr>
            <a:r>
              <a:t>CORE ALGORITHM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02752" y="4361688"/>
            <a:ext cx="259689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>
                <a:solidFill>
                  <a:srgbClr val="E8AC2F"/>
                </a:solidFill>
              </a:defRPr>
            </a:pPr>
            <a:r>
              <a:t>Backtracking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5577840"/>
            <a:ext cx="10149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647082"/>
                </a:solidFill>
              </a:defRPr>
            </a:pPr>
            <a:r>
              <a:t>Data structure: board array/list  •  Constraints: columns + diagonals  •  Output: solutions + metrics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B65BE"/>
                </a:solidFill>
              </a:defRPr>
            </a:pPr>
            <a: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01C34"/>
                </a:solidFill>
              </a:defRPr>
            </a:pPr>
            <a:r>
              <a:t>Visualization &amp; Execution Statistics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115568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082"/>
                </a:solidFill>
              </a:defRPr>
            </a:pPr>
            <a:r>
              <a:t>What the user can observe during the search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444752"/>
            <a:ext cx="10972800" cy="18288"/>
          </a:xfrm>
          <a:prstGeom prst="rect">
            <a:avLst/>
          </a:prstGeom>
          <a:solidFill>
            <a:srgbClr val="DAE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37360"/>
            <a:ext cx="822960" cy="822960"/>
          </a:xfrm>
          <a:prstGeom prst="rect">
            <a:avLst/>
          </a:prstGeom>
          <a:solidFill>
            <a:srgbClr val="EBEFF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00200" y="1737360"/>
            <a:ext cx="822960" cy="822960"/>
          </a:xfrm>
          <a:prstGeom prst="rect">
            <a:avLst/>
          </a:prstGeom>
          <a:solidFill>
            <a:srgbClr val="40526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423160" y="1737360"/>
            <a:ext cx="822960" cy="822960"/>
          </a:xfrm>
          <a:prstGeom prst="rect">
            <a:avLst/>
          </a:prstGeom>
          <a:solidFill>
            <a:srgbClr val="EBEFF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46120" y="1737360"/>
            <a:ext cx="822960" cy="822960"/>
          </a:xfrm>
          <a:prstGeom prst="rect">
            <a:avLst/>
          </a:prstGeom>
          <a:solidFill>
            <a:srgbClr val="40526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2560320"/>
            <a:ext cx="822960" cy="822960"/>
          </a:xfrm>
          <a:prstGeom prst="rect">
            <a:avLst/>
          </a:prstGeom>
          <a:solidFill>
            <a:srgbClr val="40526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600200" y="2560320"/>
            <a:ext cx="822960" cy="822960"/>
          </a:xfrm>
          <a:prstGeom prst="rect">
            <a:avLst/>
          </a:prstGeom>
          <a:solidFill>
            <a:srgbClr val="EBEFF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423160" y="2560320"/>
            <a:ext cx="822960" cy="822960"/>
          </a:xfrm>
          <a:prstGeom prst="rect">
            <a:avLst/>
          </a:prstGeom>
          <a:solidFill>
            <a:srgbClr val="40526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46120" y="2560320"/>
            <a:ext cx="822960" cy="822960"/>
          </a:xfrm>
          <a:prstGeom prst="rect">
            <a:avLst/>
          </a:prstGeom>
          <a:solidFill>
            <a:srgbClr val="EBEFF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3383280"/>
            <a:ext cx="822960" cy="822960"/>
          </a:xfrm>
          <a:prstGeom prst="rect">
            <a:avLst/>
          </a:prstGeom>
          <a:solidFill>
            <a:srgbClr val="EBEFF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600200" y="3383280"/>
            <a:ext cx="822960" cy="822960"/>
          </a:xfrm>
          <a:prstGeom prst="rect">
            <a:avLst/>
          </a:prstGeom>
          <a:solidFill>
            <a:srgbClr val="EE9E9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423160" y="3383280"/>
            <a:ext cx="822960" cy="822960"/>
          </a:xfrm>
          <a:prstGeom prst="rect">
            <a:avLst/>
          </a:prstGeom>
          <a:solidFill>
            <a:srgbClr val="EE9E9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246120" y="3383280"/>
            <a:ext cx="822960" cy="822960"/>
          </a:xfrm>
          <a:prstGeom prst="rect">
            <a:avLst/>
          </a:prstGeom>
          <a:solidFill>
            <a:srgbClr val="E8AC2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206240"/>
            <a:ext cx="822960" cy="822960"/>
          </a:xfrm>
          <a:prstGeom prst="rect">
            <a:avLst/>
          </a:prstGeom>
          <a:solidFill>
            <a:srgbClr val="40526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600200" y="4206240"/>
            <a:ext cx="822960" cy="822960"/>
          </a:xfrm>
          <a:prstGeom prst="rect">
            <a:avLst/>
          </a:prstGeom>
          <a:solidFill>
            <a:srgbClr val="EBEFF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423160" y="4206240"/>
            <a:ext cx="822960" cy="822960"/>
          </a:xfrm>
          <a:prstGeom prst="rect">
            <a:avLst/>
          </a:prstGeom>
          <a:solidFill>
            <a:srgbClr val="40526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246120" y="4206240"/>
            <a:ext cx="822960" cy="822960"/>
          </a:xfrm>
          <a:prstGeom prst="rect">
            <a:avLst/>
          </a:prstGeom>
          <a:solidFill>
            <a:srgbClr val="EBEFF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1719072"/>
            <a:ext cx="822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100" b="1">
                <a:solidFill>
                  <a:srgbClr val="101C34"/>
                </a:solidFill>
              </a:defRPr>
            </a:pPr>
            <a:r>
              <a:t>♛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23160" y="2542032"/>
            <a:ext cx="822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100" b="1">
                <a:solidFill>
                  <a:srgbClr val="101C34"/>
                </a:solidFill>
              </a:defRPr>
            </a:pPr>
            <a:r>
              <a:t>♛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230368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2B65BE"/>
                </a:solidFill>
              </a:defRPr>
            </a:pPr>
            <a:r>
              <a:t>CURRENT SEARCH STATE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617720" y="1737360"/>
            <a:ext cx="2468880" cy="1097280"/>
          </a:xfrm>
          <a:prstGeom prst="roundRect">
            <a:avLst/>
          </a:prstGeom>
          <a:solidFill>
            <a:srgbClr val="F4F7FB"/>
          </a:solidFill>
          <a:ln>
            <a:solidFill>
              <a:srgbClr val="DA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82312" y="1856231"/>
            <a:ext cx="213969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47082"/>
                </a:solidFill>
              </a:defRPr>
            </a:pPr>
            <a:r>
              <a:t>SOLUTIONS (N=4)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82312" y="2212848"/>
            <a:ext cx="213969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>
                <a:solidFill>
                  <a:srgbClr val="319B66"/>
                </a:solidFill>
              </a:defRPr>
            </a:pPr>
            <a:r>
              <a:t>2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06640" y="1737360"/>
            <a:ext cx="2468880" cy="1097280"/>
          </a:xfrm>
          <a:prstGeom prst="roundRect">
            <a:avLst/>
          </a:prstGeom>
          <a:solidFill>
            <a:srgbClr val="F4F7FB"/>
          </a:solidFill>
          <a:ln>
            <a:solidFill>
              <a:srgbClr val="DA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571231" y="1856231"/>
            <a:ext cx="213969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47082"/>
                </a:solidFill>
              </a:defRPr>
            </a:pPr>
            <a:r>
              <a:t>BOARD SIZE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71231" y="2212848"/>
            <a:ext cx="213969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>
                <a:solidFill>
                  <a:srgbClr val="2B65BE"/>
                </a:solidFill>
              </a:defRPr>
            </a:pPr>
            <a:r>
              <a:t>4 × 4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617720" y="3063240"/>
            <a:ext cx="2468880" cy="1097280"/>
          </a:xfrm>
          <a:prstGeom prst="roundRect">
            <a:avLst/>
          </a:prstGeom>
          <a:solidFill>
            <a:srgbClr val="F4F7FB"/>
          </a:solidFill>
          <a:ln>
            <a:solidFill>
              <a:srgbClr val="DA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782312" y="3182112"/>
            <a:ext cx="213969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47082"/>
                </a:solidFill>
              </a:defRPr>
            </a:pPr>
            <a:r>
              <a:t>BACKTRACKS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82312" y="3538728"/>
            <a:ext cx="213969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>
                <a:solidFill>
                  <a:srgbClr val="D04848"/>
                </a:solidFill>
              </a:defRPr>
            </a:pPr>
            <a:r>
              <a:t>TRACKED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406640" y="3063240"/>
            <a:ext cx="2468880" cy="1097280"/>
          </a:xfrm>
          <a:prstGeom prst="roundRect">
            <a:avLst/>
          </a:prstGeom>
          <a:solidFill>
            <a:srgbClr val="F4F7FB"/>
          </a:solidFill>
          <a:ln>
            <a:solidFill>
              <a:srgbClr val="DA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571231" y="3182112"/>
            <a:ext cx="213969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47082"/>
                </a:solidFill>
              </a:defRPr>
            </a:pPr>
            <a:r>
              <a:t>EXECUTION TIME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71231" y="3538728"/>
            <a:ext cx="213969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>
                <a:solidFill>
                  <a:srgbClr val="E8AC2F"/>
                </a:solidFill>
              </a:defRPr>
            </a:pPr>
            <a:r>
              <a:t>MEASURED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17720" y="457200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500">
                <a:solidFill>
                  <a:srgbClr val="232A37"/>
                </a:solidFill>
              </a:defRPr>
            </a:pPr>
            <a:r>
              <a:t>• Safe position → accepted</a:t>
            </a:r>
          </a:p>
          <a:p>
            <a:pPr>
              <a:spcAft>
                <a:spcPts val="1100"/>
              </a:spcAft>
              <a:defRPr sz="1500">
                <a:solidFill>
                  <a:srgbClr val="232A37"/>
                </a:solidFill>
              </a:defRPr>
            </a:pPr>
            <a:r>
              <a:t>• Conflict → rejected</a:t>
            </a:r>
          </a:p>
          <a:p>
            <a:pPr>
              <a:spcAft>
                <a:spcPts val="1100"/>
              </a:spcAft>
              <a:defRPr sz="1500">
                <a:solidFill>
                  <a:srgbClr val="232A37"/>
                </a:solidFill>
              </a:defRPr>
            </a:pPr>
            <a:r>
              <a:t>• Highlighted position → current decision</a:t>
            </a:r>
          </a:p>
          <a:p>
            <a:pPr>
              <a:spcAft>
                <a:spcPts val="1100"/>
              </a:spcAft>
              <a:defRPr sz="1500">
                <a:solidFill>
                  <a:srgbClr val="232A37"/>
                </a:solidFill>
              </a:defRPr>
            </a:pPr>
            <a:r>
              <a:t>• Statistics → updated during execution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B65BE"/>
                </a:solidFill>
              </a:defRPr>
            </a:pPr>
            <a: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01C34"/>
                </a:solidFill>
              </a:defRPr>
            </a:pPr>
            <a:r>
              <a:t>Conclusion &amp; Future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115568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082"/>
                </a:solidFill>
              </a:defRPr>
            </a:pPr>
            <a:r>
              <a:t>Key takeaways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444752"/>
            <a:ext cx="10972800" cy="18288"/>
          </a:xfrm>
          <a:prstGeom prst="rect">
            <a:avLst/>
          </a:prstGeom>
          <a:solidFill>
            <a:srgbClr val="DAE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64922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700">
                <a:solidFill>
                  <a:srgbClr val="232A37"/>
                </a:solidFill>
              </a:defRPr>
            </a:pPr>
            <a:r>
              <a:t>• Demonstrates N-Queens using backtracking.</a:t>
            </a:r>
          </a:p>
          <a:p>
            <a:pPr>
              <a:spcAft>
                <a:spcPts val="1100"/>
              </a:spcAft>
              <a:defRPr sz="1700">
                <a:solidFill>
                  <a:srgbClr val="232A37"/>
                </a:solidFill>
              </a:defRPr>
            </a:pPr>
            <a:r>
              <a:t>• Explains why positions are accepted or rejected.</a:t>
            </a:r>
          </a:p>
          <a:p>
            <a:pPr>
              <a:spcAft>
                <a:spcPts val="1100"/>
              </a:spcAft>
              <a:defRPr sz="1700">
                <a:solidFill>
                  <a:srgbClr val="232A37"/>
                </a:solidFill>
              </a:defRPr>
            </a:pPr>
            <a:r>
              <a:t>• Shows queen placement, conflicts and backtracking.</a:t>
            </a:r>
          </a:p>
          <a:p>
            <a:pPr>
              <a:spcAft>
                <a:spcPts val="1100"/>
              </a:spcAft>
              <a:defRPr sz="1700">
                <a:solidFill>
                  <a:srgbClr val="232A37"/>
                </a:solidFill>
              </a:defRPr>
            </a:pPr>
            <a:r>
              <a:t>• Reports solutions and execution statistics.</a:t>
            </a:r>
          </a:p>
          <a:p>
            <a:pPr>
              <a:spcAft>
                <a:spcPts val="1100"/>
              </a:spcAft>
              <a:defRPr sz="1700">
                <a:solidFill>
                  <a:srgbClr val="232A37"/>
                </a:solidFill>
              </a:defRPr>
            </a:pPr>
            <a:r>
              <a:t>• Future scope: speed controls, solution browsing, larger boards and richer animations.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8366760" y="1828800"/>
            <a:ext cx="685800" cy="685800"/>
          </a:xfrm>
          <a:prstGeom prst="rect">
            <a:avLst/>
          </a:prstGeom>
          <a:solidFill>
            <a:srgbClr val="EBEFF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052560" y="1828800"/>
            <a:ext cx="685800" cy="685800"/>
          </a:xfrm>
          <a:prstGeom prst="rect">
            <a:avLst/>
          </a:prstGeom>
          <a:solidFill>
            <a:srgbClr val="40526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738360" y="1828800"/>
            <a:ext cx="685800" cy="685800"/>
          </a:xfrm>
          <a:prstGeom prst="rect">
            <a:avLst/>
          </a:prstGeom>
          <a:solidFill>
            <a:srgbClr val="EBEFF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424160" y="1828800"/>
            <a:ext cx="685800" cy="685800"/>
          </a:xfrm>
          <a:prstGeom prst="rect">
            <a:avLst/>
          </a:prstGeom>
          <a:solidFill>
            <a:srgbClr val="40526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366760" y="2514600"/>
            <a:ext cx="685800" cy="685800"/>
          </a:xfrm>
          <a:prstGeom prst="rect">
            <a:avLst/>
          </a:prstGeom>
          <a:solidFill>
            <a:srgbClr val="40526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052560" y="2514600"/>
            <a:ext cx="685800" cy="685800"/>
          </a:xfrm>
          <a:prstGeom prst="rect">
            <a:avLst/>
          </a:prstGeom>
          <a:solidFill>
            <a:srgbClr val="EBEFF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738360" y="2514600"/>
            <a:ext cx="685800" cy="685800"/>
          </a:xfrm>
          <a:prstGeom prst="rect">
            <a:avLst/>
          </a:prstGeom>
          <a:solidFill>
            <a:srgbClr val="40526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424160" y="2514600"/>
            <a:ext cx="685800" cy="685800"/>
          </a:xfrm>
          <a:prstGeom prst="rect">
            <a:avLst/>
          </a:prstGeom>
          <a:solidFill>
            <a:srgbClr val="EBEFF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366760" y="3200400"/>
            <a:ext cx="685800" cy="685800"/>
          </a:xfrm>
          <a:prstGeom prst="rect">
            <a:avLst/>
          </a:prstGeom>
          <a:solidFill>
            <a:srgbClr val="EBEFF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052560" y="3200400"/>
            <a:ext cx="685800" cy="685800"/>
          </a:xfrm>
          <a:prstGeom prst="rect">
            <a:avLst/>
          </a:prstGeom>
          <a:solidFill>
            <a:srgbClr val="40526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738360" y="3200400"/>
            <a:ext cx="685800" cy="685800"/>
          </a:xfrm>
          <a:prstGeom prst="rect">
            <a:avLst/>
          </a:prstGeom>
          <a:solidFill>
            <a:srgbClr val="EBEFF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424160" y="3200400"/>
            <a:ext cx="685800" cy="685800"/>
          </a:xfrm>
          <a:prstGeom prst="rect">
            <a:avLst/>
          </a:prstGeom>
          <a:solidFill>
            <a:srgbClr val="40526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366760" y="3886200"/>
            <a:ext cx="685800" cy="685800"/>
          </a:xfrm>
          <a:prstGeom prst="rect">
            <a:avLst/>
          </a:prstGeom>
          <a:solidFill>
            <a:srgbClr val="40526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052560" y="3886200"/>
            <a:ext cx="685800" cy="685800"/>
          </a:xfrm>
          <a:prstGeom prst="rect">
            <a:avLst/>
          </a:prstGeom>
          <a:solidFill>
            <a:srgbClr val="EBEFF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738360" y="3886200"/>
            <a:ext cx="685800" cy="685800"/>
          </a:xfrm>
          <a:prstGeom prst="rect">
            <a:avLst/>
          </a:prstGeom>
          <a:solidFill>
            <a:srgbClr val="40526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424160" y="3886200"/>
            <a:ext cx="685800" cy="685800"/>
          </a:xfrm>
          <a:prstGeom prst="rect">
            <a:avLst/>
          </a:prstGeom>
          <a:solidFill>
            <a:srgbClr val="EBEFF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52560" y="1810512"/>
            <a:ext cx="685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01C34"/>
                </a:solidFill>
              </a:defRPr>
            </a:pPr>
            <a:r>
              <a:t>♛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24160" y="2496312"/>
            <a:ext cx="685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01C34"/>
                </a:solidFill>
              </a:defRPr>
            </a:pPr>
            <a:r>
              <a:t>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66760" y="3182112"/>
            <a:ext cx="685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01C34"/>
                </a:solidFill>
              </a:defRPr>
            </a:pPr>
            <a:r>
              <a:t>♛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38360" y="3867912"/>
            <a:ext cx="685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01C34"/>
                </a:solidFill>
              </a:defRPr>
            </a:pPr>
            <a:r>
              <a:t>♛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5320" y="4892040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2B65BE"/>
                </a:solidFill>
              </a:defRPr>
            </a:pPr>
            <a:r>
              <a:t>UNDERSTAND THE SEARCH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75320" y="5440680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01C34"/>
                </a:solidFill>
              </a:defRPr>
            </a:pPr>
            <a: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395</Words>
  <Application>Microsoft Office PowerPoint</Application>
  <PresentationFormat>Widescreen</PresentationFormat>
  <Paragraphs>87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Bollam Vaibhav</dc:creator>
  <cp:keywords/>
  <dc:description>generated using python-pptx</dc:description>
  <cp:lastModifiedBy>Bollam Vaibhav</cp:lastModifiedBy>
  <cp:revision>2</cp:revision>
  <dcterms:created xsi:type="dcterms:W3CDTF">2013-01-27T09:14:16Z</dcterms:created>
  <dcterms:modified xsi:type="dcterms:W3CDTF">2026-10-03T05:12:09Z</dcterms:modified>
  <cp:category/>
</cp:coreProperties>
</file>